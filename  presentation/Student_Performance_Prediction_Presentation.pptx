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24" y="5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14400"/>
            <a:ext cx="109728" cy="4480560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96012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Student Performance</a:t>
            </a:r>
            <a:br/>
            <a:r>
              <a:t>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063240"/>
            <a:ext cx="8961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6F2"/>
                </a:solidFill>
                <a:latin typeface="Aptos"/>
              </a:defRPr>
            </a:pPr>
            <a:r>
              <a:t>Regression study using the UCI Student Performance dataset</a:t>
            </a:r>
          </a:p>
          <a:p>
            <a:pPr>
              <a:defRPr sz="1700">
                <a:solidFill>
                  <a:srgbClr val="BECDE1"/>
                </a:solidFill>
                <a:latin typeface="Aptos"/>
              </a:defRPr>
            </a:pPr>
            <a:r>
              <a:t>Prepared by Mule Mohan Reddy • B.Tech CSE • IIIT Sri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Predict the final Mathematics grade (G3) using student characteristics and previous academic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Explore relationships between attendance, study time, previous grades and final grade.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Build and compare Linear Regression and Random Forest Regression models.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Evaluate models using MAE, RMSE and R².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Save the trained model and prediction outputs for reuse.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441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Dataset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UCI Student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43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13441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File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student-mat.csv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76488" y="13441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Records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395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4015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Columns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004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34015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Target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G3 – Final 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2004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3401568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A0"/>
                </a:solidFill>
              </a:defRPr>
            </a:pPr>
            <a:r>
              <a:t>Task</a:t>
            </a:r>
          </a:p>
          <a:p>
            <a:pPr>
              <a:defRPr sz="2100" b="1">
                <a:solidFill>
                  <a:srgbClr val="232A34"/>
                </a:solidFill>
              </a:defRPr>
            </a:pPr>
            <a:r>
              <a:t>Regression • Grade 0–20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Final Grade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Distribution of final Mathematics grades (G3).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849196-D459-98CC-8431-8F5B84A82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845" y="1011068"/>
            <a:ext cx="8632723" cy="4835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Absences vs Final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Descriptive view of the relationship between absences and G3.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77230-B086-619D-8C7E-1420ABC74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43" y="938413"/>
            <a:ext cx="9707033" cy="5255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Study Time vs Final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Final-grade distributions across study-time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4AA5E7-36CE-7DB5-08DE-A3593D58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53" y="1014607"/>
            <a:ext cx="7941733" cy="4887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G2 vs G3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G2 shows a strong relationship with the final grade G3.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CBE474-F32D-A973-9FF8-5928DE4D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866" y="987552"/>
            <a:ext cx="8568267" cy="5082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Correlation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Correlation structure among the numerical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983849-34E7-2264-0D5E-BD0BAD14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93" y="987552"/>
            <a:ext cx="7586133" cy="5121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Preprocessing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student-mat.csv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84832" y="1481328"/>
            <a:ext cx="411480" cy="219456"/>
          </a:xfrm>
          <a:prstGeom prst="rightArrow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44951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1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shape, types, missing values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32504" y="1481328"/>
            <a:ext cx="411480" cy="219456"/>
          </a:xfrm>
          <a:prstGeom prst="rightArrow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92624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92624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one-hot categorical variables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0175" y="1481328"/>
            <a:ext cx="411480" cy="219456"/>
          </a:xfrm>
          <a:prstGeom prst="rightArrow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40296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0296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80% train / 20% test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7848" y="1481328"/>
            <a:ext cx="411480" cy="219456"/>
          </a:xfrm>
          <a:prstGeom prst="rightArrow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87968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7968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Linear Regression + RF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75520" y="1481328"/>
            <a:ext cx="411480" cy="219456"/>
          </a:xfrm>
          <a:prstGeom prst="rightArrow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835640" y="1325880"/>
            <a:ext cx="530352" cy="530352"/>
          </a:xfrm>
          <a:prstGeom prst="ellipse">
            <a:avLst/>
          </a:prstGeom>
          <a:solidFill>
            <a:srgbClr val="2C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35640" y="1408176"/>
            <a:ext cx="530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011680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62B47"/>
                </a:solidFill>
              </a:defRPr>
            </a:pPr>
            <a: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487168"/>
            <a:ext cx="1783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473"/>
                </a:solidFill>
              </a:defRPr>
            </a:pPr>
            <a:r>
              <a:t>MAE, RMSE, R²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160520"/>
            <a:ext cx="10332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4370832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A34"/>
                </a:solidFill>
              </a:defRPr>
            </a:pPr>
            <a:r>
              <a:t>Feature matrix: 395 × 32  →  after one-hot encoding: 395 × 41</a:t>
            </a:r>
          </a:p>
          <a:p>
            <a:pPr>
              <a:defRPr sz="1600">
                <a:solidFill>
                  <a:srgbClr val="5A6473"/>
                </a:solidFill>
              </a:defRPr>
            </a:pPr>
            <a:r>
              <a:t>Train: 316 samples  |  Test: 79 samples  |  random_state = 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4572000" cy="64008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417320"/>
            <a:ext cx="1828800" cy="64008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15453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MAE 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417320"/>
            <a:ext cx="1828800" cy="64008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15453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RMSE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1828800" cy="640080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15453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R² 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057400"/>
            <a:ext cx="45720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Linear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057400"/>
            <a:ext cx="1828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1.647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057400"/>
            <a:ext cx="1828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2.378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57400"/>
            <a:ext cx="1828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0.724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017520"/>
            <a:ext cx="4572000" cy="960120"/>
          </a:xfrm>
          <a:prstGeom prst="rect">
            <a:avLst/>
          </a:prstGeom>
          <a:solidFill>
            <a:srgbClr val="F1F6FC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32A34"/>
                </a:solidFill>
              </a:defRPr>
            </a:pPr>
            <a:r>
              <a:t>Random Forest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3017520"/>
            <a:ext cx="1828800" cy="960120"/>
          </a:xfrm>
          <a:prstGeom prst="rect">
            <a:avLst/>
          </a:prstGeom>
          <a:solidFill>
            <a:srgbClr val="F1F6FC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3246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1.165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017520"/>
            <a:ext cx="1828800" cy="960120"/>
          </a:xfrm>
          <a:prstGeom prst="rect">
            <a:avLst/>
          </a:prstGeom>
          <a:solidFill>
            <a:srgbClr val="F1F6FC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3246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1.949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017520"/>
            <a:ext cx="1828800" cy="960120"/>
          </a:xfrm>
          <a:prstGeom prst="rect">
            <a:avLst/>
          </a:prstGeom>
          <a:solidFill>
            <a:srgbClr val="F1F6FC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32461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232A34"/>
                </a:solidFill>
              </a:defRPr>
            </a:pPr>
            <a:r>
              <a:t>0.815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C7D5C"/>
                </a:solidFill>
              </a:defRPr>
            </a:pPr>
            <a:r>
              <a:t>Observed test-set results: Random Forest has lower MAE/RMSE and higher R² in this experiment.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R² comparison between Linear Regression and Random Forest.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54FA80-C55C-EE6A-F9E2-D3BCB00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84" y="910266"/>
            <a:ext cx="9854556" cy="49826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Actual vs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44768"/>
            <a:ext cx="5440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6144768"/>
            <a:ext cx="5440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2BB19C-FFED-3065-2781-4845E8453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1270000"/>
            <a:ext cx="5317067" cy="47101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5B0A2D-4AB6-DFF0-A2F6-E7DFBD628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1" y="1270000"/>
            <a:ext cx="531706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4476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2B47"/>
                </a:solidFill>
                <a:latin typeface="Aptos"/>
              </a:defRPr>
            </a:pPr>
            <a:r>
              <a:t>Top 10 Random Forest features; importance indicates predictive contribution, not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2AB1F9-71B7-B24D-E490-29972849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267" y="987552"/>
            <a:ext cx="9025466" cy="49492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Model Saving /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43000"/>
            <a:ext cx="2743200" cy="6583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7"/>
                </a:solidFill>
              </a:defRPr>
            </a:pPr>
            <a:r>
              <a:t>Saved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23444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student_performance_model.pkl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743200" cy="6583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7"/>
                </a:solidFill>
              </a:defRPr>
            </a:pPr>
            <a:r>
              <a:t>Prediction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37744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prediction_results.csv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2743200" cy="6583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7"/>
                </a:solidFill>
              </a:defRPr>
            </a:pPr>
            <a:r>
              <a:t>Comparison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52044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model_comparison.csv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743200" cy="6583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7"/>
                </a:solidFill>
              </a:defRPr>
            </a:pPr>
            <a:r>
              <a:t>Reload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66344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[8.32, 11.78, 6.50, 9.76, 8.80]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137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D2DCE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949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53949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62B47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395 students from two Portuguese schools.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G1 and G2 are included, so this is not an early-warning prediction setting.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Results use one 80:20 train-test split.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Predictive relationships do not prove causation.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Performance may change on other populations.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29844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62B47"/>
                </a:solidFill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09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Run an early-prediction experiment excluding G1 and G2.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Use k-fold cross-validation.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Tune Random Forest hyperparameters.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Compare Gradient Boosting, SVR and other regressors.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  <a:latin typeface="Aptos"/>
              </a:defRPr>
            </a:pPr>
            <a:r>
              <a:t>• Use larger and more diverse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  <a:latin typeface="Aptos"/>
              </a:defRPr>
            </a:pPr>
            <a:r>
              <a:t>Student Performance Prediction • UCI Mathematics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554480"/>
            <a:ext cx="10058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  <a:latin typeface="Aptos"/>
              </a:defRPr>
            </a:pPr>
            <a:r>
              <a:t>• A complete machine-learning workflow was developed for predicting final Mathematics grade G3.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  <a:latin typeface="Aptos"/>
              </a:defRPr>
            </a:pPr>
            <a:r>
              <a:t>• Linear Regression: MAE 1.647, RMSE 2.378, R² 0.724.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  <a:latin typeface="Aptos"/>
              </a:defRPr>
            </a:pPr>
            <a:r>
              <a:t>• Random Forest: MAE 1.165, RMSE 1.949, R² 0.815.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  <a:latin typeface="Aptos"/>
              </a:defRPr>
            </a:pPr>
            <a:r>
              <a:t>• The experiment shows lower observed errors and higher explained variation for Random Forest on this test split.</a:t>
            </a:r>
          </a:p>
          <a:p>
            <a:pPr>
              <a:spcAft>
                <a:spcPts val="1600"/>
              </a:spcAft>
              <a:defRPr sz="2000">
                <a:solidFill>
                  <a:srgbClr val="E1E9F3"/>
                </a:solidFill>
                <a:latin typeface="Aptos"/>
              </a:defRPr>
            </a:pPr>
            <a:r>
              <a:t>• G1 and G2 are important previous-grade predictors, so the task should be interpreted as final-grade prediction with prior academic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715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656</Words>
  <Application>Microsoft Office PowerPoint</Application>
  <PresentationFormat>Widescreen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Mohan Reddy</dc:creator>
  <cp:keywords/>
  <dc:description>generated using python-pptx</dc:description>
  <cp:lastModifiedBy>Mohan Reddy</cp:lastModifiedBy>
  <cp:revision>2</cp:revision>
  <dcterms:created xsi:type="dcterms:W3CDTF">2013-01-27T09:14:16Z</dcterms:created>
  <dcterms:modified xsi:type="dcterms:W3CDTF">2026-09-28T17:13:55Z</dcterms:modified>
  <cp:category/>
</cp:coreProperties>
</file>